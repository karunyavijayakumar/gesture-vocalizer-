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23104066@outlook.com" userId="9cccefe09376b98a" providerId="LiveId" clId="{A0BE621B-FF03-4602-9DF7-6C10BCACD263}"/>
    <pc:docChg chg="modSld">
      <pc:chgData name="K23104066@outlook.com" userId="9cccefe09376b98a" providerId="LiveId" clId="{A0BE621B-FF03-4602-9DF7-6C10BCACD263}" dt="2026-02-08T04:20:16.080" v="13" actId="1076"/>
      <pc:docMkLst>
        <pc:docMk/>
      </pc:docMkLst>
      <pc:sldChg chg="modSp mod">
        <pc:chgData name="K23104066@outlook.com" userId="9cccefe09376b98a" providerId="LiveId" clId="{A0BE621B-FF03-4602-9DF7-6C10BCACD263}" dt="2026-02-08T04:20:16.080" v="13" actId="1076"/>
        <pc:sldMkLst>
          <pc:docMk/>
          <pc:sldMk cId="0" sldId="256"/>
        </pc:sldMkLst>
        <pc:spChg chg="mod">
          <ac:chgData name="K23104066@outlook.com" userId="9cccefe09376b98a" providerId="LiveId" clId="{A0BE621B-FF03-4602-9DF7-6C10BCACD263}" dt="2026-02-08T04:20:09.128" v="11" actId="1076"/>
          <ac:spMkLst>
            <pc:docMk/>
            <pc:sldMk cId="0" sldId="256"/>
            <ac:spMk id="54" creationId="{00000000-0000-0000-0000-000000000000}"/>
          </ac:spMkLst>
        </pc:spChg>
        <pc:spChg chg="mod">
          <ac:chgData name="K23104066@outlook.com" userId="9cccefe09376b98a" providerId="LiveId" clId="{A0BE621B-FF03-4602-9DF7-6C10BCACD263}" dt="2026-02-08T04:20:16.080" v="13" actId="1076"/>
          <ac:spMkLst>
            <pc:docMk/>
            <pc:sldMk cId="0" sldId="256"/>
            <ac:spMk id="5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d00dec6b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d00dec6b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d00dec6ba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d00dec6ba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d00dec6ba0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d00dec6ba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d00dec6ba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d00dec6ba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d00dec6ba0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d00dec6ba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d00dec6ba0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d00dec6ba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d00dec6ba0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d00dec6ba0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d00dec6ba0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d00dec6ba0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00dec6ba0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00dec6ba0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d00dec6ba0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d00dec6ba0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67881" y="632329"/>
            <a:ext cx="8486691"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                       </a:t>
            </a:r>
            <a:r>
              <a:rPr lang="en" sz="4400" dirty="0">
                <a:solidFill>
                  <a:schemeClr val="dk2"/>
                </a:solidFill>
                <a:latin typeface="Bodoni MT Black" panose="02070A03080606020203" pitchFamily="18" charset="0"/>
              </a:rPr>
              <a:t>GESTURE VOCALIZER</a:t>
            </a:r>
            <a:endParaRPr sz="1800" dirty="0">
              <a:solidFill>
                <a:schemeClr val="dk2"/>
              </a:solidFill>
              <a:latin typeface="Bodoni MT Black" panose="02070A03080606020203" pitchFamily="18" charset="0"/>
            </a:endParaRPr>
          </a:p>
        </p:txBody>
      </p:sp>
      <p:sp>
        <p:nvSpPr>
          <p:cNvPr id="55" name="Google Shape;55;p13"/>
          <p:cNvSpPr txBox="1"/>
          <p:nvPr/>
        </p:nvSpPr>
        <p:spPr>
          <a:xfrm>
            <a:off x="5629800" y="4390134"/>
            <a:ext cx="3514200" cy="108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V. KARUNYA 111523104066 </a:t>
            </a:r>
            <a:endParaRPr sz="18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316450" y="412125"/>
            <a:ext cx="3790200" cy="36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ABSTRACT</a:t>
            </a:r>
            <a:endParaRPr sz="1800">
              <a:solidFill>
                <a:schemeClr val="dk2"/>
              </a:solidFill>
            </a:endParaRPr>
          </a:p>
        </p:txBody>
      </p:sp>
      <p:sp>
        <p:nvSpPr>
          <p:cNvPr id="61" name="Google Shape;61;p14"/>
          <p:cNvSpPr txBox="1"/>
          <p:nvPr/>
        </p:nvSpPr>
        <p:spPr>
          <a:xfrm>
            <a:off x="279650" y="1074475"/>
            <a:ext cx="8628900" cy="36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Hand-Gesture Recognition System helps the dumb people finding difficulty in communicating with the society. These people give some gestures to communicate with the normal people but all the gestures given by the dumb cannot be understood. So, there is a need to have some media between the dumb and normal people. The system recognizes the gestures given by the dumb and display the message on the LCD according to the gesture. The glove with flex sensors is worn to the hand of the dumb and when the gesture is given it is sensed by the flex sensor then the system recognizes the gesture. Paraplegics are the persons whose body parts below the belly will not work and find difficulty in using the appliances. The system also consists of an accelerometer controlling the fan and light. The appliances can be controlled by tilting the accelerometer. An alert message with the help of a GSM can be sent to the concerned person of the paraplegic when the paraplegic is in trouble.</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206050" y="301725"/>
            <a:ext cx="6494700" cy="82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Introduction</a:t>
            </a:r>
            <a:endParaRPr sz="1800">
              <a:solidFill>
                <a:schemeClr val="dk2"/>
              </a:solidFill>
            </a:endParaRPr>
          </a:p>
        </p:txBody>
      </p:sp>
      <p:sp>
        <p:nvSpPr>
          <p:cNvPr id="67" name="Google Shape;67;p15"/>
          <p:cNvSpPr txBox="1"/>
          <p:nvPr/>
        </p:nvSpPr>
        <p:spPr>
          <a:xfrm>
            <a:off x="206050" y="724900"/>
            <a:ext cx="8684100" cy="415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The people who are unable to speak come across many problems while communicating with other persons. The speech impaired person uses sign language instead of speaking to represent themselves. Deaf persons can communicate only by using gestures. The significant drawback of sign language is that only the dumb person can understand gestures but not normal people. This gadget transforms gesture into speech i.e., gives voice to the silent community who cannot speak . In this project, Flex Sensor plays a big role. The hand glove is stitched with the flex sensors/accelerometer sensor. </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279650" y="485725"/>
            <a:ext cx="8610600" cy="445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2"/>
                </a:solidFill>
              </a:rPr>
              <a:t>The flex sensors deliver output in the shape of voltage variation that varies with the degree of bend. The Microcontroller contains an ADC channel, which receives output from flex sensors/accelerometer sensors. It processes the output and converts it from analog to digital signal. Furthermore, the process information is dispatched in a wireless way to the receiver section. The gesture is diagnosed in this phase, therefore corresponding output is displayed in the LCD, and concurrently speech output is playback via speaker.</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The major advantage of this assignment is its portability. Thus, the difficulties humans face in interacting with society can be greatly reduced with the assistance of this project [6].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p:nvPr/>
        </p:nvSpPr>
        <p:spPr>
          <a:xfrm>
            <a:off x="261250" y="246525"/>
            <a:ext cx="3753300" cy="44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PROBLEM STATEMENT</a:t>
            </a:r>
            <a:endParaRPr sz="1800">
              <a:solidFill>
                <a:schemeClr val="dk2"/>
              </a:solidFill>
            </a:endParaRPr>
          </a:p>
        </p:txBody>
      </p:sp>
      <p:sp>
        <p:nvSpPr>
          <p:cNvPr id="78" name="Google Shape;78;p17"/>
          <p:cNvSpPr txBox="1"/>
          <p:nvPr/>
        </p:nvSpPr>
        <p:spPr>
          <a:xfrm>
            <a:off x="261250" y="1148050"/>
            <a:ext cx="8297700" cy="11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Define the Problem </a:t>
            </a:r>
            <a:endParaRPr sz="1800">
              <a:solidFill>
                <a:schemeClr val="dk2"/>
              </a:solidFill>
            </a:endParaRPr>
          </a:p>
          <a:p>
            <a:pPr marL="0" lvl="0" indent="0" algn="l" rtl="0">
              <a:spcBef>
                <a:spcPts val="0"/>
              </a:spcBef>
              <a:spcAft>
                <a:spcPts val="0"/>
              </a:spcAft>
              <a:buNone/>
            </a:pPr>
            <a:r>
              <a:rPr lang="en" sz="1800">
                <a:solidFill>
                  <a:schemeClr val="dk2"/>
                </a:solidFill>
              </a:rPr>
              <a:t>Sign language is a vital means of communication for individuals with hearing impairments. However, there exists a communication gap between individuals who use sign language and those who do not understand it. To bridge this gap, there is a need for a reliable sign language to speech conversion systems. This system should accurately interpret gestures and signs from sign language into spoken language in real-time</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p:nvPr/>
        </p:nvSpPr>
        <p:spPr>
          <a:xfrm>
            <a:off x="187675" y="264925"/>
            <a:ext cx="8849700" cy="458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What core problem does your product / Service solve?</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 The core problem that Gesture Vocaliser solves is the communication barrier between individuals who use sign language and those who do not understand it. For individuals with hearing impairments who primarily communicate through sign language, interacting with non-signers can be challenging, as not everyone understands or is proficient in sign language. Gesture Vocaliser addresses this problem by providing a solution that translates sign language gestures into spoken language in real-time. By converting sign language gestures into spoken language output, Gesture Vocaliser enables effective communication between sign language users and nonsigners, thereby breaking down barriers and fostering inclusivity in various social, educational, and professional settings. This technology enhances accessibility and promotes equal participation in communication for individuals with hearing impairments.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9"/>
          <p:cNvSpPr txBox="1"/>
          <p:nvPr/>
        </p:nvSpPr>
        <p:spPr>
          <a:xfrm>
            <a:off x="242850" y="356925"/>
            <a:ext cx="8536800" cy="441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Problem Statement/ Proposed Idea </a:t>
            </a:r>
            <a:endParaRPr sz="1800">
              <a:solidFill>
                <a:schemeClr val="dk2"/>
              </a:solidFill>
            </a:endParaRPr>
          </a:p>
          <a:p>
            <a:pPr marL="0" lvl="0" indent="0" algn="l" rtl="0">
              <a:spcBef>
                <a:spcPts val="0"/>
              </a:spcBef>
              <a:spcAft>
                <a:spcPts val="0"/>
              </a:spcAft>
              <a:buNone/>
            </a:pPr>
            <a:r>
              <a:rPr lang="en" sz="1800">
                <a:solidFill>
                  <a:schemeClr val="dk2"/>
                </a:solidFill>
              </a:rPr>
              <a:t>This development of an IoT device for disabled people, focusing on those who are deaf, dumb, or blind. The device aims to bridge the communication gap between disabled individuals and those without disabilities. It utilizes hand gloves with flex sensors/accelerometer sensor to recognize gestures and convert them into audio and visual output. The gesture vocalizer utilizes an Arduino microcontroller and flex sensors/accelerometer sensor attached to the user's fingers. As the user performs sign language gestures, the flex sensors/accelerometer sensor detect finger movements and transmit corresponding data to the Arduino. The Arduino processes this data and triggers pre-programmed audio output representing spoken language equivalents of the sign language gestures. Through this process, the gesture vocalizer enables realtime conversion of sign language gestures into audible speech, enhancing communication accessibility for the Deaf and hard of hearing community.</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p:nvPr/>
        </p:nvSpPr>
        <p:spPr>
          <a:xfrm>
            <a:off x="334850" y="191350"/>
            <a:ext cx="8408100" cy="448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Solution to the problem </a:t>
            </a:r>
            <a:endParaRPr sz="1800">
              <a:solidFill>
                <a:schemeClr val="dk2"/>
              </a:solidFill>
            </a:endParaRPr>
          </a:p>
          <a:p>
            <a:pPr marL="0" lvl="0" indent="0" algn="l" rtl="0">
              <a:spcBef>
                <a:spcPts val="0"/>
              </a:spcBef>
              <a:spcAft>
                <a:spcPts val="0"/>
              </a:spcAft>
              <a:buNone/>
            </a:pPr>
            <a:r>
              <a:rPr lang="en" sz="1800">
                <a:solidFill>
                  <a:schemeClr val="dk2"/>
                </a:solidFill>
              </a:rPr>
              <a:t>The gesture vocalizer employs an Arduino microcontroller and an accelerometer sensor. As the user performs sign language gestures, the accelerometer detects hand movements and orientation changes. The Arduino processes this data in real-time, interpreting the gestures based on predefined patterns or machine learning algorithms. Upon recognition, the Arduino triggers preprogrammed audio output representing spoken language equivalents of the sign language gestures. This converted speech is then played through speakers or a headphone connected to the system. The gesture vocalizer enhances communication accessibility for the Deaf and hard of hearing by translating sign language gestures into audible speech, fostering inclusivity and understanding in various settings such as education, social interactions, and professional environments.</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1"/>
          <p:cNvSpPr txBox="1"/>
          <p:nvPr/>
        </p:nvSpPr>
        <p:spPr>
          <a:xfrm>
            <a:off x="261250" y="283325"/>
            <a:ext cx="8592000" cy="44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Explain the novelty of your solution.</a:t>
            </a:r>
            <a:endParaRPr sz="1800">
              <a:solidFill>
                <a:schemeClr val="dk2"/>
              </a:solidFill>
            </a:endParaRPr>
          </a:p>
          <a:p>
            <a:pPr marL="0" lvl="0" indent="0" algn="l" rtl="0">
              <a:spcBef>
                <a:spcPts val="0"/>
              </a:spcBef>
              <a:spcAft>
                <a:spcPts val="0"/>
              </a:spcAft>
              <a:buNone/>
            </a:pPr>
            <a:r>
              <a:rPr lang="en" sz="1800">
                <a:solidFill>
                  <a:schemeClr val="dk2"/>
                </a:solidFill>
              </a:rPr>
              <a:t>Is already an existing one but we have used another sensor called accelerometer sensor in the place of flex sensor. Accelerometer sensors offer higher sensitivity and versatility compared to flex sensors in gesture vocalizers. They can detect a wider range of hand movements with greater precision, including gestures involving tilting and rotation. Accelerometers provide real-time data on hand orientation, allowing for more nuanced interpretation of sign language gestures. Additionally, they are less susceptible to wear and tear since they don't rely on physical bending like flex sensors, resulting in increased durability. Moreover, accelerometer-based systems may offer better adaptability for users with varying hand sizes and mobility ranges.</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txBox="1"/>
          <p:nvPr/>
        </p:nvSpPr>
        <p:spPr>
          <a:xfrm>
            <a:off x="279650" y="191350"/>
            <a:ext cx="4617600" cy="58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FLOWCHART/PRODUCT WORKFLOW</a:t>
            </a:r>
            <a:endParaRPr sz="1800">
              <a:solidFill>
                <a:schemeClr val="dk2"/>
              </a:solidFill>
            </a:endParaRPr>
          </a:p>
        </p:txBody>
      </p:sp>
      <p:pic>
        <p:nvPicPr>
          <p:cNvPr id="104" name="Google Shape;104;p22"/>
          <p:cNvPicPr preferRelativeResize="0"/>
          <p:nvPr/>
        </p:nvPicPr>
        <p:blipFill>
          <a:blip r:embed="rId3">
            <a:alphaModFix/>
          </a:blip>
          <a:stretch>
            <a:fillRect/>
          </a:stretch>
        </p:blipFill>
        <p:spPr>
          <a:xfrm>
            <a:off x="4897375" y="347675"/>
            <a:ext cx="4066325" cy="4448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3"/>
          <p:cNvSpPr txBox="1"/>
          <p:nvPr/>
        </p:nvSpPr>
        <p:spPr>
          <a:xfrm>
            <a:off x="316450" y="136150"/>
            <a:ext cx="8040000" cy="44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CUSTOMER SEGMENT </a:t>
            </a:r>
            <a:endParaRPr sz="1800">
              <a:solidFill>
                <a:schemeClr val="dk2"/>
              </a:solidFill>
            </a:endParaRPr>
          </a:p>
          <a:p>
            <a:pPr marL="0" lvl="0" indent="0" algn="l" rtl="0">
              <a:spcBef>
                <a:spcPts val="0"/>
              </a:spcBef>
              <a:spcAft>
                <a:spcPts val="0"/>
              </a:spcAft>
              <a:buNone/>
            </a:pPr>
            <a:r>
              <a:rPr lang="en" sz="1800">
                <a:solidFill>
                  <a:schemeClr val="dk2"/>
                </a:solidFill>
              </a:rPr>
              <a:t>Who is facing the problem that you are solving? </a:t>
            </a:r>
            <a:endParaRPr sz="1800">
              <a:solidFill>
                <a:schemeClr val="dk2"/>
              </a:solidFill>
            </a:endParaRPr>
          </a:p>
          <a:p>
            <a:pPr marL="0" lvl="0" indent="0" algn="l" rtl="0">
              <a:spcBef>
                <a:spcPts val="0"/>
              </a:spcBef>
              <a:spcAft>
                <a:spcPts val="0"/>
              </a:spcAft>
              <a:buNone/>
            </a:pPr>
            <a:r>
              <a:rPr lang="en" sz="1800">
                <a:solidFill>
                  <a:schemeClr val="dk2"/>
                </a:solidFill>
              </a:rPr>
              <a:t>Deaf and dumb people and paralyzed patients </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Who is your target customer / Sector?</a:t>
            </a:r>
            <a:endParaRPr sz="1800">
              <a:solidFill>
                <a:schemeClr val="dk2"/>
              </a:solidFill>
            </a:endParaRPr>
          </a:p>
          <a:p>
            <a:pPr marL="0" lvl="0" indent="0" algn="l" rtl="0">
              <a:spcBef>
                <a:spcPts val="0"/>
              </a:spcBef>
              <a:spcAft>
                <a:spcPts val="0"/>
              </a:spcAft>
              <a:buNone/>
            </a:pPr>
            <a:r>
              <a:rPr lang="en" sz="1800">
                <a:solidFill>
                  <a:schemeClr val="dk2"/>
                </a:solidFill>
              </a:rPr>
              <a:t> Deaf and Hard of Hearing Individuals</a:t>
            </a:r>
            <a:endParaRPr sz="1800">
              <a:solidFill>
                <a:schemeClr val="dk2"/>
              </a:solidFill>
            </a:endParaRPr>
          </a:p>
          <a:p>
            <a:pPr marL="0" lvl="0" indent="0" algn="l" rtl="0">
              <a:spcBef>
                <a:spcPts val="0"/>
              </a:spcBef>
              <a:spcAft>
                <a:spcPts val="0"/>
              </a:spcAft>
              <a:buNone/>
            </a:pPr>
            <a:r>
              <a:rPr lang="en" sz="1800">
                <a:solidFill>
                  <a:schemeClr val="dk2"/>
                </a:solidFill>
              </a:rPr>
              <a:t> Educational Institutions </a:t>
            </a:r>
            <a:endParaRPr sz="1800">
              <a:solidFill>
                <a:schemeClr val="dk2"/>
              </a:solidFill>
            </a:endParaRPr>
          </a:p>
          <a:p>
            <a:pPr marL="0" lvl="0" indent="0" algn="l" rtl="0">
              <a:spcBef>
                <a:spcPts val="0"/>
              </a:spcBef>
              <a:spcAft>
                <a:spcPts val="0"/>
              </a:spcAft>
              <a:buNone/>
            </a:pPr>
            <a:r>
              <a:rPr lang="en" sz="1800">
                <a:solidFill>
                  <a:schemeClr val="dk2"/>
                </a:solidFill>
              </a:rPr>
              <a:t>Healthcare Facilities </a:t>
            </a:r>
            <a:endParaRPr sz="1800">
              <a:solidFill>
                <a:schemeClr val="dk2"/>
              </a:solidFill>
            </a:endParaRPr>
          </a:p>
        </p:txBody>
      </p:sp>
      <p:sp>
        <p:nvSpPr>
          <p:cNvPr id="110" name="Google Shape;110;p23"/>
          <p:cNvSpPr txBox="1"/>
          <p:nvPr/>
        </p:nvSpPr>
        <p:spPr>
          <a:xfrm>
            <a:off x="187675" y="2675125"/>
            <a:ext cx="8775900" cy="18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Why should customers choose you? </a:t>
            </a:r>
            <a:endParaRPr sz="1800">
              <a:solidFill>
                <a:schemeClr val="dk2"/>
              </a:solidFill>
            </a:endParaRPr>
          </a:p>
          <a:p>
            <a:pPr marL="0" lvl="0" indent="0" algn="l" rtl="0">
              <a:spcBef>
                <a:spcPts val="0"/>
              </a:spcBef>
              <a:spcAft>
                <a:spcPts val="0"/>
              </a:spcAft>
              <a:buNone/>
            </a:pPr>
            <a:r>
              <a:rPr lang="en" sz="1800">
                <a:solidFill>
                  <a:schemeClr val="dk2"/>
                </a:solidFill>
              </a:rPr>
              <a:t>Customers should us because of the following reasons: Higher Accuracy: Accelerometer sensors provide more precise measurement of hand movements, resulting in more accurate gesture recognition. Expanded Functionality: With accelerometer sensors, the system can detect not only finger flexion but also hand orientation and movement, enabling a wider range of gestures to be recognized. Improved Reliability: Arduino and accelerometer sensors offer greater reliability in capturing subtle hand motions, minimizing errors in gesture interpretation.</a:t>
            </a:r>
            <a:endParaRPr sz="18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1176</Words>
  <Application>Microsoft Office PowerPoint</Application>
  <PresentationFormat>On-screen Show (16:9)</PresentationFormat>
  <Paragraphs>33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Bodoni MT Black</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K23104066@outlook.com</cp:lastModifiedBy>
  <cp:revision>1</cp:revision>
  <dcterms:modified xsi:type="dcterms:W3CDTF">2026-02-08T04:20:17Z</dcterms:modified>
</cp:coreProperties>
</file>